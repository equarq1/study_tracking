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41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0" y="-731520"/>
            <a:ext cx="2926080" cy="292608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3474720"/>
            <a:ext cx="1828800" cy="1828800"/>
          </a:xfrm>
          <a:prstGeom prst="ellipse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463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StudPoints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геймификации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студенческих достижений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457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Учебная практика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005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достижения —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профиль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подаёт заявку → ИИ оценивает → куратор верифицирует → профиль обновляется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310896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1A56A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310896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310896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7B2D8B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GigaChat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356616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639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3904621"/>
            <a:ext cx="4389120" cy="649091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0" indent="0">
              <a:buNone/>
            </a:pPr>
            <a:r>
              <a:rPr lang="ru-RU" sz="1100" dirty="0"/>
              <a:t>Сметанин Родион (</a:t>
            </a:r>
            <a:r>
              <a:rPr lang="ru-RU" sz="1100" dirty="0" err="1"/>
              <a:t>TeamLead</a:t>
            </a:r>
            <a:r>
              <a:rPr lang="en-US" sz="1100" dirty="0"/>
              <a:t>, QA)</a:t>
            </a:r>
          </a:p>
          <a:p>
            <a:pPr marL="0" indent="0">
              <a:buNone/>
            </a:pPr>
            <a:r>
              <a:rPr lang="ru-RU" sz="1100" dirty="0" err="1"/>
              <a:t>Акбиров</a:t>
            </a:r>
            <a:r>
              <a:rPr lang="ru-RU" sz="1100" dirty="0"/>
              <a:t> Эльдар (</a:t>
            </a:r>
            <a:r>
              <a:rPr lang="ru-RU" sz="1100" dirty="0" err="1"/>
              <a:t>Backend</a:t>
            </a:r>
            <a:r>
              <a:rPr lang="en-US" sz="1100" dirty="0"/>
              <a:t> 1)</a:t>
            </a:r>
            <a:endParaRPr lang="ru-RU" sz="1100" dirty="0"/>
          </a:p>
          <a:p>
            <a:pPr marL="0" indent="0">
              <a:buNone/>
            </a:pPr>
            <a:r>
              <a:rPr lang="en-US" sz="1100" dirty="0" err="1"/>
              <a:t>Гайфуллин</a:t>
            </a:r>
            <a:r>
              <a:rPr lang="en-US" sz="1100" dirty="0"/>
              <a:t> </a:t>
            </a:r>
            <a:r>
              <a:rPr lang="ru-RU" sz="1100" dirty="0"/>
              <a:t>Эдуард (</a:t>
            </a:r>
            <a:r>
              <a:rPr lang="en-US" sz="1100" dirty="0"/>
              <a:t>Backend 2)</a:t>
            </a:r>
            <a:endParaRPr lang="ru-RU" sz="1100" dirty="0"/>
          </a:p>
          <a:p>
            <a:pPr marL="0" indent="0">
              <a:buNone/>
            </a:pPr>
            <a:r>
              <a:rPr lang="ru-RU" sz="1100" dirty="0"/>
              <a:t>Тимин Родион (</a:t>
            </a:r>
            <a:r>
              <a:rPr lang="en-US" sz="1100" dirty="0"/>
              <a:t>AI integration)</a:t>
            </a:r>
          </a:p>
          <a:p>
            <a:pPr marL="0" indent="0">
              <a:buNone/>
            </a:pPr>
            <a:r>
              <a:rPr lang="ru-RU" sz="1100" dirty="0" err="1"/>
              <a:t>Фазлиев</a:t>
            </a:r>
            <a:r>
              <a:rPr lang="ru-RU" sz="1100" dirty="0"/>
              <a:t> Ислам(</a:t>
            </a:r>
            <a:r>
              <a:rPr lang="en-US" sz="1100" dirty="0"/>
              <a:t>Frontend 1)</a:t>
            </a:r>
          </a:p>
          <a:p>
            <a:pPr marL="0" indent="0">
              <a:buNone/>
            </a:pPr>
            <a:r>
              <a:rPr lang="ru-RU" sz="1100" dirty="0" err="1"/>
              <a:t>Фасхудинов</a:t>
            </a:r>
            <a:r>
              <a:rPr lang="ru-RU" sz="1100" dirty="0"/>
              <a:t> Данияр (</a:t>
            </a:r>
            <a:r>
              <a:rPr lang="en-US" sz="1100" dirty="0"/>
              <a:t>Frontend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идея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3F3"/>
          </a:solidFill>
          <a:ln w="12700">
            <a:solidFill>
              <a:srgbClr val="FF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Проблема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Студенческие достижения нигде не фиксируются системно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Хакатоны, спорт, волонтёрство — остаются в памяти, не в документах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 выходу на рынок труда нечего показать, кроме зачётки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Куратору сложно отследить активность студентов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2286000"/>
            <a:ext cx="548640" cy="457200"/>
          </a:xfrm>
          <a:prstGeom prst="rightArrow">
            <a:avLst/>
          </a:prstGeom>
          <a:solidFill>
            <a:srgbClr val="4A9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91440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F0F7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Решение — StudPoints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Единый верифицированный профиль студента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ИИ оценивает значимость каждого достижения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6883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Куратор подтверждает или корректирует оценку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Рейтинг, уровни и категории — учёба / спорт / наука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перед аналогами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1828800" cy="384048"/>
          </a:xfrm>
          <a:prstGeom prst="rect">
            <a:avLst/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914400"/>
            <a:ext cx="1463040" cy="384048"/>
          </a:xfrm>
          <a:prstGeom prst="rect">
            <a:avLst/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ВШЭ СтЭП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914400"/>
            <a:ext cx="1463040" cy="384048"/>
          </a:xfrm>
          <a:prstGeom prst="rect">
            <a:avLst/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Badges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914400"/>
            <a:ext cx="1463040" cy="384048"/>
          </a:xfrm>
          <a:prstGeom prst="rect">
            <a:avLst/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914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LMS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1508760" cy="384048"/>
          </a:xfrm>
          <a:prstGeom prst="rect">
            <a:avLst/>
          </a:prstGeom>
          <a:solidFill>
            <a:srgbClr val="1A56A0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9144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31673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167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достижений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1316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316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49240" y="1316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1316736"/>
            <a:ext cx="150876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3167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1792224"/>
            <a:ext cx="182880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792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Внеучебная активность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31720" y="1792224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1792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40480" y="1792224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792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49240" y="1792224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792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1792224"/>
            <a:ext cx="150876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79222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226771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267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 (XP, уровни)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31720" y="2267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267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40480" y="2267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2267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49240" y="226771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267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0" y="2267712"/>
            <a:ext cx="150876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2677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2743200"/>
            <a:ext cx="182880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743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AI-оценка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31720" y="2743200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743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840480" y="2743200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2743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349240" y="2743200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2743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858000" y="2743200"/>
            <a:ext cx="150876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27432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57200" y="321868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2186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куратором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31720" y="3218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3218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218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3218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349240" y="321868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49240" y="3218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858000" y="3218688"/>
            <a:ext cx="150876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321868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457200" y="3694176"/>
            <a:ext cx="182880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 категориям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331720" y="3694176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6941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840480" y="3694176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0" y="36941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349240" y="3694176"/>
            <a:ext cx="1463040" cy="475488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49240" y="36941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858000" y="3694176"/>
            <a:ext cx="150876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0" y="369417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StudPoints — единственное решение, объединяющее все ключевые функции в одном продукте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функции MVP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64008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заявки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описывает достижение, выбирает категорию (учёба / спорт / наука)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960120"/>
            <a:ext cx="2651760" cy="6400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1" name="Text 9"/>
          <p:cNvSpPr/>
          <p:nvPr/>
        </p:nvSpPr>
        <p:spPr>
          <a:xfrm>
            <a:off x="3419856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19856" y="1600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AI-оценка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9856" y="19019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YandexGPT анализирует текст и предлагает количество XP (0–200)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9601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960120"/>
            <a:ext cx="265176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72784" y="1600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19019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подтверждает, отклоняет или корректирует XP вручную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640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студента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86791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Уровень, общий XP, сильные стороны по категориям, лента ачивок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2926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2926080"/>
            <a:ext cx="2651760" cy="640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3419856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19856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и уровни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19856" y="386791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уровней: Новичок → Участник → Активист → Лидер → Амбассадор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63056" y="29260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2926080"/>
            <a:ext cx="2651760" cy="64008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72784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защита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72784" y="386791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JWT-аутентификация, разграничение доступа студент / куратор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4A90D9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часть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· База данных · Авторизация · Бизнес-логика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2514600" cy="3474720"/>
          </a:xfrm>
          <a:prstGeom prst="roundRect">
            <a:avLst>
              <a:gd name="adj" fmla="val 3636"/>
            </a:avLst>
          </a:prstGeom>
          <a:solidFill>
            <a:srgbClr val="EBF2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51460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" y="1508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Axios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Router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514600" cy="3474720"/>
          </a:xfrm>
          <a:prstGeom prst="roundRect">
            <a:avLst>
              <a:gd name="adj" fmla="val 3636"/>
            </a:avLst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14400"/>
            <a:ext cx="2514600" cy="50292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14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514600" cy="3474720"/>
          </a:xfrm>
          <a:prstGeom prst="roundRect">
            <a:avLst>
              <a:gd name="adj" fmla="val 3636"/>
            </a:avLst>
          </a:prstGeom>
          <a:solidFill>
            <a:srgbClr val="EBF2FA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914400"/>
            <a:ext cx="2514600" cy="5029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914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/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15087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44368" y="2331720"/>
            <a:ext cx="365760" cy="320040"/>
          </a:xfrm>
          <a:prstGeom prst="rightArrow">
            <a:avLst/>
          </a:prstGeom>
          <a:solidFill>
            <a:srgbClr val="718096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4368" y="2743200"/>
            <a:ext cx="365760" cy="320040"/>
          </a:xfrm>
          <a:prstGeom prst="leftArrow">
            <a:avLst/>
          </a:prstGeom>
          <a:solidFill>
            <a:srgbClr val="718096"/>
          </a:solidFill>
          <a:ln/>
        </p:spPr>
      </p:sp>
      <p:sp>
        <p:nvSpPr>
          <p:cNvPr id="18" name="Shape 16"/>
          <p:cNvSpPr/>
          <p:nvPr/>
        </p:nvSpPr>
        <p:spPr>
          <a:xfrm>
            <a:off x="5779008" y="2331720"/>
            <a:ext cx="365760" cy="320040"/>
          </a:xfrm>
          <a:prstGeom prst="rightArrow">
            <a:avLst/>
          </a:prstGeom>
          <a:solidFill>
            <a:srgbClr val="718096"/>
          </a:solidFill>
          <a:ln/>
        </p:spPr>
      </p:sp>
      <p:sp>
        <p:nvSpPr>
          <p:cNvPr id="19" name="Shape 17"/>
          <p:cNvSpPr/>
          <p:nvPr/>
        </p:nvSpPr>
        <p:spPr>
          <a:xfrm>
            <a:off x="5779008" y="2743200"/>
            <a:ext cx="365760" cy="320040"/>
          </a:xfrm>
          <a:prstGeom prst="leftArrow">
            <a:avLst/>
          </a:prstGeom>
          <a:solidFill>
            <a:srgbClr val="718096"/>
          </a:solidFill>
          <a:ln/>
        </p:spPr>
      </p:sp>
      <p:sp>
        <p:nvSpPr>
          <p:cNvPr id="20" name="Text 18"/>
          <p:cNvSpPr/>
          <p:nvPr/>
        </p:nvSpPr>
        <p:spPr>
          <a:xfrm>
            <a:off x="2871216" y="201168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05856" y="201168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 клиент-сервер · разделение слоёв · REST API как контракт между фронтендом и бэкендом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— ER-диаграмма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454456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final_xp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64515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xp_amount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4617720"/>
            <a:ext cx="8321040" cy="347472"/>
          </a:xfrm>
          <a:prstGeom prst="roundRect">
            <a:avLst>
              <a:gd name="adj" fmla="val 13158"/>
            </a:avLst>
          </a:prstGeom>
          <a:solidFill>
            <a:srgbClr val="E8F4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6360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XP не хранится отдельным полем — всегда вычисляется как SUM из xp_ledger (Immutable Ledger pattern)</a:t>
            </a:r>
            <a:endParaRPr lang="en-US" sz="1000" dirty="0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D75CADC-96C0-364C-253C-AD26894E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324" y="878781"/>
            <a:ext cx="5771867" cy="3527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и бизнес-логика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886200" cy="384048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Авторизация (JWT)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djangorestframework-simplejwt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/api/auth/login/ → access + refresh token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Токен передаётся в заголовке Authorization: Bearer ...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Роли: student | curator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Кастомный permission class проверяет role на каждом эндпоинте куратора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Студент не видит чужие заявки → фильтрация по request.user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91440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914400"/>
            <a:ext cx="429768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Бизнес-логика: поток XP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417320"/>
            <a:ext cx="310896" cy="310896"/>
          </a:xfrm>
          <a:prstGeom prst="ellipse">
            <a:avLst/>
          </a:prstGeom>
          <a:solidFill>
            <a:srgbClr val="1A56A0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1435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подаёт заявку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892808"/>
            <a:ext cx="310896" cy="310896"/>
          </a:xfrm>
          <a:prstGeom prst="ellipse">
            <a:avLst/>
          </a:prstGeom>
          <a:solidFill>
            <a:srgbClr val="7B2D8B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1911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ai_suggested_xp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368296"/>
            <a:ext cx="310896" cy="310896"/>
          </a:xfrm>
          <a:prstGeom prst="ellipse">
            <a:avLst/>
          </a:prstGeom>
          <a:solidFill>
            <a:srgbClr val="E8A020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386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pending → ждёт куратора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43784"/>
            <a:ext cx="310896" cy="310896"/>
          </a:xfrm>
          <a:prstGeom prst="ellipse">
            <a:avLst/>
          </a:prstGeom>
          <a:solidFill>
            <a:srgbClr val="27AE60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2862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Куратор: approve / reject / edit XP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319272"/>
            <a:ext cx="310896" cy="310896"/>
          </a:xfrm>
          <a:prstGeom prst="ellipse">
            <a:avLst/>
          </a:prstGeom>
          <a:solidFill>
            <a:srgbClr val="1A56A0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3337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approve → запись в xp_ledger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794760"/>
            <a:ext cx="310896" cy="310896"/>
          </a:xfrm>
          <a:prstGeom prst="ellipse">
            <a:avLst/>
          </a:prstGeom>
          <a:solidFill>
            <a:srgbClr val="4A90D9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38130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Профиль: SUM(xp_ledger) в реальном времени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4A90D9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работы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реализовано · Ключевые решения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удалось реализовать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32688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950976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JWT-авторизация с ролями студент / куратор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8321040" cy="475488"/>
          </a:xfrm>
          <a:prstGeom prst="rect">
            <a:avLst/>
          </a:prstGeom>
          <a:solidFill>
            <a:srgbClr val="F4F9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заявок с автоматической AI-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оценкой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куратора: просмотр, подтверждение, ручная правка XP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8321040" cy="475488"/>
          </a:xfrm>
          <a:prstGeom prst="rect">
            <a:avLst/>
          </a:prstGeom>
          <a:solidFill>
            <a:srgbClr val="F4F9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4203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студента: уровень, XP, сильные стороны по 3 категориям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7238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072384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Ledger — надёжный учёт начислений без рассинхронизации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8321040" cy="475488"/>
          </a:xfrm>
          <a:prstGeom prst="rect">
            <a:avLst/>
          </a:prstGeom>
          <a:solidFill>
            <a:srgbClr val="F4F9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027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602736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тесты: unit + API (права, XP-логика, граничные значения)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13308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архитектурные решения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32688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160520" cy="64008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Ledger для XP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не хранится как отдельное поле — только как SUM из журнала транзакций. Устраняет рассинхронизацию, позволяет отменять начисления без изменения истории.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32688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32688"/>
            <a:ext cx="4160520" cy="6400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698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как помощник, не автомат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предлагает XP, но последнее слово — за куратором. Это снижает нагрузку на проверку, сохраняя человеческий контроль над качеством верификации.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91740" y="2862072"/>
            <a:ext cx="416052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1740" y="2862072"/>
            <a:ext cx="4160520" cy="640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2628900" y="2999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Синхронная AI-интеграция + fallback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28900" y="341071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синхронный (без очередей). При ошибке или таймауте заявка всё равно создаётся с дефолтным XP — сервис не падает при недоступности AI.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Возможные н</a:t>
            </a:r>
            <a:r>
              <a:rPr lang="en-US" sz="2200" b="1" dirty="0" err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аправления</a:t>
            </a:r>
            <a:r>
              <a:rPr lang="en-US" sz="2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дальнейшего развития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76272"/>
            <a:ext cx="7589520" cy="45720"/>
          </a:xfrm>
          <a:prstGeom prst="rect">
            <a:avLst/>
          </a:prstGeom>
          <a:solidFill>
            <a:srgbClr val="D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1606561" y="2020824"/>
            <a:ext cx="365760" cy="36576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686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1A56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Ближайшее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64792" y="1216152"/>
            <a:ext cx="45720" cy="82296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87168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78608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Генерация PDF-резюме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236976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Публичный профиль по ссылке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895344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статусе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1124" y="2017378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3364992" y="8686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Среднесрочное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81144" y="1216152"/>
            <a:ext cx="4572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4992" y="2487168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578608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Граф навыков (Skill Tree)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236976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Интеграция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лк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кфу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895344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Мобильная версия / PWA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34826" y="2017378"/>
            <a:ext cx="365760" cy="36576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22" name="Shape 20"/>
          <p:cNvSpPr/>
          <p:nvPr/>
        </p:nvSpPr>
        <p:spPr>
          <a:xfrm>
            <a:off x="6181344" y="86868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7B2D8B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Перспективное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97496" y="1216152"/>
            <a:ext cx="45720" cy="82296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1344" y="2487168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EBF2FA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236976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Экспорт в LinkedIn / HH.ru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3895344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для работодателей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722</Words>
  <Application>Microsoft Macintosh PowerPoint</Application>
  <PresentationFormat>Экран (16:9)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Родион Сметанин</cp:lastModifiedBy>
  <cp:revision>2</cp:revision>
  <dcterms:created xsi:type="dcterms:W3CDTF">2026-07-12T08:26:42Z</dcterms:created>
  <dcterms:modified xsi:type="dcterms:W3CDTF">2026-07-12T08:45:32Z</dcterms:modified>
</cp:coreProperties>
</file>